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6" r:id="rId19"/>
  </p:sldIdLst>
  <p:sldSz cx="12192000" cy="6858000"/>
  <p:notesSz cx="6858000" cy="9144000"/>
  <p:embeddedFontLst>
    <p:embeddedFont>
      <p:font typeface="Arial Narrow" panose="020B0606020202030204" pitchFamily="3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350" y="-25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25020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xmlns="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xmlns="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xmlns="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smtClean="0">
                <a:latin typeface="Arial Narrow"/>
                <a:ea typeface="Arial Narrow"/>
                <a:cs typeface="Arial Narrow"/>
                <a:sym typeface="Arial Narrow"/>
              </a:rPr>
              <a:t>END SEMESTERPRACTICAL EXAMINATION-NOV /DEC 2025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 smtClean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b="1" u="sng" dirty="0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</a:t>
            </a:r>
            <a:r>
              <a:rPr lang="en-US" sz="2400" b="1" dirty="0" smtClean="0">
                <a:latin typeface="Arial Narrow"/>
                <a:ea typeface="Arial Narrow"/>
                <a:cs typeface="Arial Narrow"/>
                <a:sym typeface="Arial Narrow"/>
              </a:rPr>
              <a:t>.: 5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</a:t>
            </a:r>
            <a:r>
              <a:rPr lang="en-US" sz="2400" b="1" dirty="0" smtClean="0">
                <a:latin typeface="Arial Narrow"/>
                <a:ea typeface="Arial Narrow"/>
                <a:cs typeface="Arial Narrow"/>
                <a:sym typeface="Arial Narrow"/>
              </a:rPr>
              <a:t>: /11/2025</a:t>
            </a:r>
            <a:endParaRPr lang="en-US" sz="2400"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</a:t>
            </a:r>
            <a:r>
              <a:rPr lang="en-US" sz="2400" b="1" dirty="0" smtClean="0">
                <a:latin typeface="Arial Narrow"/>
                <a:ea typeface="Arial Narrow"/>
                <a:cs typeface="Arial Narrow"/>
                <a:sym typeface="Arial Narrow"/>
              </a:rPr>
              <a:t>: AN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407405"/>
            <a:ext cx="12119100" cy="195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buSzPts val="3600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EARLY DETECTION OF GENETIC DISORDERS IN FETUSES </a:t>
            </a:r>
          </a:p>
          <a:p>
            <a:pPr marL="0" lvl="0" indent="0" algn="ctr">
              <a:buSzPts val="3600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USING  MACHINE  LEARNING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18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6" y="3594414"/>
            <a:ext cx="3333799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</a:t>
            </a:r>
            <a:r>
              <a:rPr lang="en-US" sz="2400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Name: </a:t>
            </a:r>
            <a:r>
              <a:rPr lang="en-US" sz="2400" b="1" dirty="0" err="1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Mrs.S.Sujitha</a:t>
            </a:r>
            <a:r>
              <a:rPr lang="en-US" sz="2400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,M.E.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5169530" y="3631450"/>
            <a:ext cx="6829804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</a:t>
            </a:r>
            <a:r>
              <a:rPr lang="en-US" sz="2400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:  </a:t>
            </a:r>
            <a:r>
              <a:rPr lang="en-US" sz="2400" b="1" dirty="0" err="1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B.Sudeesh</a:t>
            </a:r>
            <a:r>
              <a:rPr lang="en-US" sz="2400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(811722104160)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 		    </a:t>
            </a:r>
            <a:r>
              <a:rPr lang="en-US" sz="2400" b="1" dirty="0" err="1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B.Sundar</a:t>
            </a:r>
            <a:r>
              <a:rPr lang="en-US" sz="2400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(811722104161)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	    </a:t>
            </a:r>
            <a:r>
              <a:rPr lang="en-US" sz="2400" b="1" dirty="0" err="1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J.Sundar</a:t>
            </a:r>
            <a:r>
              <a:rPr lang="en-US" sz="2400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Prasath</a:t>
            </a:r>
            <a:r>
              <a:rPr lang="en-US" sz="2400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(</a:t>
            </a:r>
            <a:r>
              <a:rPr lang="en-US" b="1" dirty="0" smtClean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811722104162)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29146" y="1520793"/>
            <a:ext cx="10515600" cy="303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40029" marR="6985" indent="-227965" algn="just">
              <a:lnSpc>
                <a:spcPts val="2690"/>
              </a:lnSpc>
              <a:spcBef>
                <a:spcPts val="740"/>
              </a:spcBef>
              <a:buClr>
                <a:schemeClr val="accent1"/>
              </a:buClr>
              <a:buFont typeface="Arial MT"/>
              <a:buChar char="•"/>
              <a:tabLst>
                <a:tab pos="241300" algn="l"/>
                <a:tab pos="833755" algn="l"/>
                <a:tab pos="2181225" algn="l"/>
                <a:tab pos="2562225" algn="l"/>
                <a:tab pos="3987800" algn="l"/>
                <a:tab pos="5374640" algn="l"/>
                <a:tab pos="6483985" algn="l"/>
                <a:tab pos="7240270" algn="l"/>
                <a:tab pos="8843645" algn="l"/>
              </a:tabLst>
            </a:pPr>
            <a:r>
              <a:rPr lang="en-US" spc="-2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To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develop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5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machine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learning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model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2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that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integrates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ultrasound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images</a:t>
            </a:r>
            <a:r>
              <a:rPr lang="en-US" spc="-1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and</a:t>
            </a:r>
            <a:r>
              <a:rPr lang="en-US" spc="-2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patient</a:t>
            </a:r>
            <a:r>
              <a:rPr lang="en-US" spc="-3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data.</a:t>
            </a:r>
          </a:p>
          <a:p>
            <a:pPr marL="240029" marR="9525" indent="-227965" algn="just">
              <a:lnSpc>
                <a:spcPts val="2690"/>
              </a:lnSpc>
              <a:spcBef>
                <a:spcPts val="1010"/>
              </a:spcBef>
              <a:buClr>
                <a:schemeClr val="accent1"/>
              </a:buClr>
              <a:buFont typeface="Arial MT"/>
              <a:buChar char="•"/>
              <a:tabLst>
                <a:tab pos="241300" algn="l"/>
                <a:tab pos="797560" algn="l"/>
                <a:tab pos="2443480" algn="l"/>
                <a:tab pos="3713479" algn="l"/>
                <a:tab pos="4923155" algn="l"/>
                <a:tab pos="6414135" algn="l"/>
                <a:tab pos="7252334" algn="l"/>
                <a:tab pos="7735570" algn="l"/>
                <a:tab pos="8791575" algn="l"/>
              </a:tabLst>
            </a:pPr>
            <a:r>
              <a:rPr lang="en-US" spc="-2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To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accurately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classify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genetic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disorders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2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such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2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as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2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Down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Syndrome,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Turner</a:t>
            </a:r>
            <a:r>
              <a:rPr lang="en-US" spc="-12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Syndrome,</a:t>
            </a:r>
            <a:r>
              <a:rPr lang="en-US" spc="-13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spc="-2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etc.</a:t>
            </a:r>
          </a:p>
          <a:p>
            <a:pPr marL="240029" marR="5080" indent="-227965" algn="just">
              <a:lnSpc>
                <a:spcPts val="2690"/>
              </a:lnSpc>
              <a:spcBef>
                <a:spcPts val="990"/>
              </a:spcBef>
              <a:buClr>
                <a:schemeClr val="accent1"/>
              </a:buClr>
              <a:buFont typeface="Arial MT"/>
              <a:buChar char="•"/>
              <a:tabLst>
                <a:tab pos="241300" algn="l"/>
              </a:tabLst>
            </a:pP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To</a:t>
            </a:r>
            <a:r>
              <a:rPr lang="en-US" spc="1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simulate</a:t>
            </a:r>
            <a:r>
              <a:rPr lang="en-US" spc="10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realistic</a:t>
            </a:r>
            <a:r>
              <a:rPr lang="en-US" spc="10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diagnostic</a:t>
            </a:r>
            <a:r>
              <a:rPr lang="en-US" spc="9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conditions</a:t>
            </a:r>
            <a:r>
              <a:rPr lang="en-US" spc="10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by</a:t>
            </a:r>
            <a:r>
              <a:rPr lang="en-US" spc="12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handling</a:t>
            </a:r>
            <a:r>
              <a:rPr lang="en-US" spc="12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inconsistent</a:t>
            </a:r>
            <a:r>
              <a:rPr lang="en-US" spc="114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spc="-2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or 	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missing</a:t>
            </a:r>
            <a:r>
              <a:rPr lang="en-US" spc="-4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image</a:t>
            </a:r>
            <a:r>
              <a:rPr lang="en-US" spc="-4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data.</a:t>
            </a:r>
          </a:p>
          <a:p>
            <a:pPr marL="240029" marR="5080" indent="-227965" algn="just">
              <a:lnSpc>
                <a:spcPct val="80000"/>
              </a:lnSpc>
              <a:spcBef>
                <a:spcPts val="1019"/>
              </a:spcBef>
              <a:buClr>
                <a:schemeClr val="accent1"/>
              </a:buClr>
              <a:buFont typeface="Arial MT"/>
              <a:buChar char="•"/>
              <a:tabLst>
                <a:tab pos="241300" algn="l"/>
                <a:tab pos="759460" algn="l"/>
                <a:tab pos="1993900" algn="l"/>
                <a:tab pos="2298700" algn="l"/>
                <a:tab pos="3531870" algn="l"/>
                <a:tab pos="4665980" algn="l"/>
                <a:tab pos="5680710" algn="l"/>
                <a:tab pos="6836409" algn="l"/>
                <a:tab pos="7498080" algn="l"/>
                <a:tab pos="8631555" algn="l"/>
                <a:tab pos="9369425" algn="l"/>
                <a:tab pos="10009505" algn="l"/>
              </a:tabLst>
            </a:pPr>
            <a:r>
              <a:rPr lang="en-US" spc="-2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To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provide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5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flexible  system  where images  </a:t>
            </a:r>
            <a:r>
              <a:rPr lang="en-US" spc="-2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and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tabular  </a:t>
            </a:r>
            <a:r>
              <a:rPr lang="en-US" spc="-2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data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2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can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2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be 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manually</a:t>
            </a:r>
            <a:r>
              <a:rPr lang="en-US" spc="-3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uploaded.</a:t>
            </a:r>
          </a:p>
          <a:p>
            <a:pPr marL="240029" marR="6350" indent="-227965" algn="just">
              <a:lnSpc>
                <a:spcPts val="2690"/>
              </a:lnSpc>
              <a:spcBef>
                <a:spcPts val="985"/>
              </a:spcBef>
              <a:buClr>
                <a:schemeClr val="accent1"/>
              </a:buClr>
              <a:buFont typeface="Arial MT"/>
              <a:buChar char="•"/>
              <a:tabLst>
                <a:tab pos="241300" algn="l"/>
                <a:tab pos="802005" algn="l"/>
                <a:tab pos="2178050" algn="l"/>
                <a:tab pos="3413125" algn="l"/>
                <a:tab pos="5970270" algn="l"/>
                <a:tab pos="6438265" algn="l"/>
                <a:tab pos="7259955" algn="l"/>
                <a:tab pos="7964170" algn="l"/>
                <a:tab pos="9178925" algn="l"/>
              </a:tabLst>
            </a:pPr>
            <a:r>
              <a:rPr lang="en-US" spc="-2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To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improve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clinical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decision-making </a:t>
            </a:r>
            <a:r>
              <a:rPr lang="en-US" spc="-2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in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fetal </a:t>
            </a:r>
            <a:r>
              <a:rPr lang="en-US" spc="-25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and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genetic</a:t>
            </a: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	</a:t>
            </a:r>
            <a:r>
              <a:rPr lang="en-US" spc="-10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disorder screening.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736600" y="142938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Genetic disorders in fetuses can cause severe health complications if not detected early.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Traditional detection methods are invasive and risky for both mother and baby.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Machine learning enables non-invasive and accurate prediction using medical data.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The project integrates ultrasound images and patient information for early disorder detection.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This system supports doctors in making faster and safer prenatal diagnostic decisions.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6" name="Google Shape;121;p5"/>
          <p:cNvGraphicFramePr/>
          <p:nvPr>
            <p:extLst>
              <p:ext uri="{D42A27DB-BD31-4B8C-83A1-F6EECF244321}">
                <p14:modId xmlns:p14="http://schemas.microsoft.com/office/powerpoint/2010/main" val="3121402351"/>
              </p:ext>
            </p:extLst>
          </p:nvPr>
        </p:nvGraphicFramePr>
        <p:xfrm>
          <a:off x="0" y="708000"/>
          <a:ext cx="12192001" cy="9906988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30271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11046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885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6464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0" dirty="0" smtClean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Accuracy and AI Models Generalization in Medical</a:t>
                      </a:r>
                      <a:endParaRPr lang="en-US" sz="2400" b="0" u="none" strike="noStrike" cap="none" dirty="0" smtClean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b="0" dirty="0" smtClean="0">
                          <a:latin typeface="Arial Narrow" panose="020B0606020202030204" pitchFamily="34" charset="0"/>
                        </a:rPr>
                        <a:t>Computers, Materials &amp; Continua (2025)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Machine learning-based </a:t>
                      </a: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convolutional</a:t>
                      </a:r>
                      <a:r>
                        <a:rPr lang="en-US" sz="2400" b="0" baseline="0" dirty="0" smtClean="0">
                          <a:latin typeface="Arial Narrow" panose="020B0606020202030204" pitchFamily="34" charset="0"/>
                        </a:rPr>
                        <a:t> neural network </a:t>
                      </a: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model </a:t>
                      </a: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to identify complex genetic disorders using patient data relationships.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Used </a:t>
                      </a: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Convolutional</a:t>
                      </a:r>
                      <a:r>
                        <a:rPr lang="en-US" sz="2400" b="0" baseline="0" dirty="0" smtClean="0">
                          <a:latin typeface="Arial Narrow" panose="020B0606020202030204" pitchFamily="34" charset="0"/>
                        </a:rPr>
                        <a:t> Neural Network </a:t>
                      </a: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, </a:t>
                      </a: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Decision Trees, and Feature Correlation for genetic prediction.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64643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Prediction of Genetic Disorders using Machine Learning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International Journal of Innovative Science and Research Technology (2023)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Developed ML classifiers for detecting hereditary disorders based on medical history and clinical parameters.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Used SVM, Random Forest, and Logistic Regression for classification and pattern analysis.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0396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b="0" dirty="0" smtClean="0"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Prenatal Genetic Diagnosis and Screening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International Journal of Science and </a:t>
                      </a:r>
                      <a:r>
                        <a:rPr lang="en-US" sz="2400" b="0" dirty="0" err="1" smtClean="0">
                          <a:latin typeface="Arial Narrow" panose="020B0606020202030204" pitchFamily="34" charset="0"/>
                        </a:rPr>
                        <a:t>cTechnology</a:t>
                      </a: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 (2023)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Detecting hereditary disorders based on medical history and clinical parameters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 smtClean="0">
                          <a:latin typeface="Arial Narrow" panose="020B0606020202030204" pitchFamily="34" charset="0"/>
                        </a:rPr>
                        <a:t>Used SVM, Random Forest, and Logistic Regression for classification and pattern analysis.</a:t>
                      </a: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9506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9506">
                <a:tc>
                  <a:txBody>
                    <a:bodyPr/>
                    <a:lstStyle/>
                    <a:p>
                      <a:pPr algn="just"/>
                      <a:endParaRPr lang="en-IN" b="0" dirty="0">
                        <a:latin typeface="Arial Narrow" panose="020B060602020203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just"/>
                      <a:endParaRPr lang="en-IN" b="0" dirty="0">
                        <a:latin typeface="Arial Narrow" panose="020B0606020202030204" pitchFamily="3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29506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29506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2950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xmlns="" val="274706906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2050" name="Picture 2" descr="Amniocentesis vs Chorionic Villus Sampling - YouTu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716" y="857092"/>
            <a:ext cx="8111904" cy="5027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Arial Narrow" panose="020B0606020202030204" pitchFamily="34" charset="0"/>
              </a:rPr>
              <a:t>PROBLEM IDENTIFICATION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Ultrasound accuracy depends heavily on the technician’s expertise.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Subtle genetic disorder markers may be missed by the human eye.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No existing system specifically focuses on ultrasound-only deep learning-based genetic disorder detection.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Traditional methods are invasive and not suitable for frequent screening.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A non-invasive, image-based automated system is needed to support clinicians.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9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132408" y="211826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718" y="1361441"/>
            <a:ext cx="9880282" cy="4511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374580" y="1703041"/>
            <a:ext cx="5157900" cy="453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HARDWARE</a:t>
            </a:r>
            <a:endParaRPr sz="24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algn="just"/>
            <a:r>
              <a:rPr lang="en-IN" sz="2400" b="1" dirty="0">
                <a:latin typeface="Arial Narrow" panose="020B0606020202030204" pitchFamily="34" charset="0"/>
              </a:rPr>
              <a:t>Processor:</a:t>
            </a:r>
            <a:r>
              <a:rPr lang="en-IN" sz="2400" dirty="0">
                <a:latin typeface="Arial Narrow" panose="020B0606020202030204" pitchFamily="34" charset="0"/>
              </a:rPr>
              <a:t> Intel Core i5 or higher</a:t>
            </a:r>
          </a:p>
          <a:p>
            <a:pPr algn="just"/>
            <a:r>
              <a:rPr lang="en-IN" sz="2400" b="1" dirty="0">
                <a:latin typeface="Arial Narrow" panose="020B0606020202030204" pitchFamily="34" charset="0"/>
              </a:rPr>
              <a:t>RAM:</a:t>
            </a:r>
            <a:r>
              <a:rPr lang="en-IN" sz="2400" dirty="0">
                <a:latin typeface="Arial Narrow" panose="020B0606020202030204" pitchFamily="34" charset="0"/>
              </a:rPr>
              <a:t> Minimum 8 GB (recommended 16 GB for model training)</a:t>
            </a:r>
          </a:p>
          <a:p>
            <a:pPr algn="just"/>
            <a:r>
              <a:rPr lang="en-IN" sz="2400" b="1" dirty="0">
                <a:latin typeface="Arial Narrow" panose="020B0606020202030204" pitchFamily="34" charset="0"/>
              </a:rPr>
              <a:t>Storage:</a:t>
            </a:r>
            <a:r>
              <a:rPr lang="en-IN" sz="2400" dirty="0">
                <a:latin typeface="Arial Narrow" panose="020B0606020202030204" pitchFamily="34" charset="0"/>
              </a:rPr>
              <a:t> At least 500 GB HDD or 256 GB SSD</a:t>
            </a:r>
          </a:p>
          <a:p>
            <a:pPr algn="just"/>
            <a:r>
              <a:rPr lang="en-IN" sz="2400" b="1" dirty="0">
                <a:latin typeface="Arial Narrow" panose="020B0606020202030204" pitchFamily="34" charset="0"/>
              </a:rPr>
              <a:t>Graphics:</a:t>
            </a:r>
            <a:r>
              <a:rPr lang="en-IN" sz="2400" dirty="0">
                <a:latin typeface="Arial Narrow" panose="020B0606020202030204" pitchFamily="34" charset="0"/>
              </a:rPr>
              <a:t> NVIDIA GPU (optional but improves deep learning performance)</a:t>
            </a:r>
          </a:p>
          <a:p>
            <a:pPr algn="just"/>
            <a:r>
              <a:rPr lang="en-IN" sz="2400" b="1" dirty="0">
                <a:latin typeface="Arial Narrow" panose="020B0606020202030204" pitchFamily="34" charset="0"/>
              </a:rPr>
              <a:t>Display:</a:t>
            </a:r>
            <a:r>
              <a:rPr lang="en-IN" sz="2400" dirty="0">
                <a:latin typeface="Arial Narrow" panose="020B0606020202030204" pitchFamily="34" charset="0"/>
              </a:rPr>
              <a:t> Standard monitor with 1280×720 resolution or above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4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5821379" y="1634023"/>
            <a:ext cx="6109630" cy="458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SOFTWARE</a:t>
            </a:r>
            <a:endParaRPr sz="2400" b="1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algn="just"/>
            <a:r>
              <a:rPr lang="en-IN" sz="2400" b="1" dirty="0">
                <a:latin typeface="Arial Narrow" panose="020B0606020202030204" pitchFamily="34" charset="0"/>
              </a:rPr>
              <a:t>Operating System:</a:t>
            </a:r>
            <a:r>
              <a:rPr lang="en-IN" sz="2400" dirty="0">
                <a:latin typeface="Arial Narrow" panose="020B0606020202030204" pitchFamily="34" charset="0"/>
              </a:rPr>
              <a:t> Windows </a:t>
            </a:r>
            <a:r>
              <a:rPr lang="en-IN" sz="2400" dirty="0" smtClean="0">
                <a:latin typeface="Arial Narrow" panose="020B0606020202030204" pitchFamily="34" charset="0"/>
              </a:rPr>
              <a:t>10</a:t>
            </a:r>
          </a:p>
          <a:p>
            <a:pPr algn="just"/>
            <a:r>
              <a:rPr lang="en-IN" sz="2400" b="1" dirty="0" smtClean="0">
                <a:latin typeface="Arial Narrow" panose="020B0606020202030204" pitchFamily="34" charset="0"/>
              </a:rPr>
              <a:t>Programming </a:t>
            </a:r>
            <a:r>
              <a:rPr lang="en-IN" sz="2400" b="1" dirty="0">
                <a:latin typeface="Arial Narrow" panose="020B0606020202030204" pitchFamily="34" charset="0"/>
              </a:rPr>
              <a:t>Language:</a:t>
            </a:r>
            <a:r>
              <a:rPr lang="en-IN" sz="2400" dirty="0">
                <a:latin typeface="Arial Narrow" panose="020B0606020202030204" pitchFamily="34" charset="0"/>
              </a:rPr>
              <a:t> Python 3.8 or above</a:t>
            </a:r>
          </a:p>
          <a:p>
            <a:pPr algn="just"/>
            <a:r>
              <a:rPr lang="en-IN" sz="2400" b="1" dirty="0">
                <a:latin typeface="Arial Narrow" panose="020B0606020202030204" pitchFamily="34" charset="0"/>
              </a:rPr>
              <a:t>Libraries &amp; </a:t>
            </a:r>
            <a:r>
              <a:rPr lang="en-IN" sz="2400" b="1" dirty="0" err="1" smtClean="0">
                <a:latin typeface="Arial Narrow" panose="020B0606020202030204" pitchFamily="34" charset="0"/>
              </a:rPr>
              <a:t>Tools:</a:t>
            </a:r>
            <a:r>
              <a:rPr lang="en-IN" sz="2400" dirty="0" err="1" smtClean="0">
                <a:latin typeface="Arial Narrow" panose="020B0606020202030204" pitchFamily="34" charset="0"/>
              </a:rPr>
              <a:t>TensorFlow</a:t>
            </a:r>
            <a:r>
              <a:rPr lang="en-IN" sz="2400" dirty="0" smtClean="0">
                <a:latin typeface="Arial Narrow" panose="020B0606020202030204" pitchFamily="34" charset="0"/>
              </a:rPr>
              <a:t> </a:t>
            </a:r>
            <a:r>
              <a:rPr lang="en-IN" sz="2400" dirty="0">
                <a:latin typeface="Arial Narrow" panose="020B0606020202030204" pitchFamily="34" charset="0"/>
              </a:rPr>
              <a:t>/ </a:t>
            </a:r>
            <a:r>
              <a:rPr lang="en-IN" sz="2400" dirty="0" err="1" smtClean="0">
                <a:latin typeface="Arial Narrow" panose="020B0606020202030204" pitchFamily="34" charset="0"/>
              </a:rPr>
              <a:t>Keras</a:t>
            </a:r>
            <a:r>
              <a:rPr lang="en-IN" sz="2400" dirty="0" smtClean="0">
                <a:latin typeface="Arial Narrow" panose="020B0606020202030204" pitchFamily="34" charset="0"/>
              </a:rPr>
              <a:t> ,</a:t>
            </a:r>
            <a:r>
              <a:rPr lang="en-IN" sz="2400" dirty="0" err="1" smtClean="0">
                <a:latin typeface="Arial Narrow" panose="020B0606020202030204" pitchFamily="34" charset="0"/>
              </a:rPr>
              <a:t>NumPy</a:t>
            </a:r>
            <a:r>
              <a:rPr lang="en-IN" sz="2400" dirty="0">
                <a:latin typeface="Arial Narrow" panose="020B0606020202030204" pitchFamily="34" charset="0"/>
              </a:rPr>
              <a:t>, Pandas, </a:t>
            </a:r>
            <a:r>
              <a:rPr lang="en-IN" sz="2400" dirty="0" err="1">
                <a:latin typeface="Arial Narrow" panose="020B0606020202030204" pitchFamily="34" charset="0"/>
              </a:rPr>
              <a:t>OpenCV</a:t>
            </a:r>
            <a:r>
              <a:rPr lang="en-IN" sz="2400" dirty="0">
                <a:latin typeface="Arial Narrow" panose="020B0606020202030204" pitchFamily="34" charset="0"/>
              </a:rPr>
              <a:t>, </a:t>
            </a:r>
            <a:r>
              <a:rPr lang="en-IN" sz="2400" dirty="0" err="1">
                <a:latin typeface="Arial Narrow" panose="020B0606020202030204" pitchFamily="34" charset="0"/>
              </a:rPr>
              <a:t>Scikit</a:t>
            </a:r>
            <a:r>
              <a:rPr lang="en-IN" sz="2400" dirty="0">
                <a:latin typeface="Arial Narrow" panose="020B0606020202030204" pitchFamily="34" charset="0"/>
              </a:rPr>
              <a:t>-learn, </a:t>
            </a:r>
            <a:r>
              <a:rPr lang="en-IN" sz="2400" dirty="0" err="1">
                <a:latin typeface="Arial Narrow" panose="020B0606020202030204" pitchFamily="34" charset="0"/>
              </a:rPr>
              <a:t>Matplotlib</a:t>
            </a:r>
            <a:endParaRPr lang="en-IN" sz="2400" dirty="0">
              <a:latin typeface="Arial Narrow" panose="020B0606020202030204" pitchFamily="34" charset="0"/>
            </a:endParaRPr>
          </a:p>
          <a:p>
            <a:pPr algn="just"/>
            <a:r>
              <a:rPr lang="en-IN" sz="2400" b="1" dirty="0">
                <a:latin typeface="Arial Narrow" panose="020B0606020202030204" pitchFamily="34" charset="0"/>
              </a:rPr>
              <a:t>IDE / Platform:</a:t>
            </a:r>
            <a:r>
              <a:rPr lang="en-IN" sz="2400" dirty="0">
                <a:latin typeface="Arial Narrow" panose="020B0606020202030204" pitchFamily="34" charset="0"/>
              </a:rPr>
              <a:t> </a:t>
            </a:r>
            <a:r>
              <a:rPr lang="en-IN" sz="2400" dirty="0" err="1">
                <a:latin typeface="Arial Narrow" panose="020B0606020202030204" pitchFamily="34" charset="0"/>
              </a:rPr>
              <a:t>Jupyter</a:t>
            </a:r>
            <a:r>
              <a:rPr lang="en-IN" sz="2400" dirty="0">
                <a:latin typeface="Arial Narrow" panose="020B0606020202030204" pitchFamily="34" charset="0"/>
              </a:rPr>
              <a:t> Notebook or </a:t>
            </a:r>
            <a:r>
              <a:rPr lang="en-IN" sz="2400" dirty="0" err="1">
                <a:latin typeface="Arial Narrow" panose="020B0606020202030204" pitchFamily="34" charset="0"/>
              </a:rPr>
              <a:t>PyCharm</a:t>
            </a:r>
            <a:endParaRPr lang="en-IN" sz="2400" dirty="0">
              <a:latin typeface="Arial Narrow" panose="020B0606020202030204" pitchFamily="34" charset="0"/>
            </a:endParaRPr>
          </a:p>
          <a:p>
            <a:pPr algn="just"/>
            <a:r>
              <a:rPr lang="en-IN" sz="2400" b="1" dirty="0">
                <a:latin typeface="Arial Narrow" panose="020B0606020202030204" pitchFamily="34" charset="0"/>
              </a:rPr>
              <a:t>Database / File Format:</a:t>
            </a:r>
            <a:r>
              <a:rPr lang="en-IN" sz="2400" dirty="0">
                <a:latin typeface="Arial Narrow" panose="020B0606020202030204" pitchFamily="34" charset="0"/>
              </a:rPr>
              <a:t> CSV for patient data storage and output reports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4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indent="-514350" algn="just">
              <a:buFont typeface="+mj-lt"/>
              <a:buAutoNum type="arabicPeriod"/>
            </a:pPr>
            <a:r>
              <a:rPr lang="en-US" b="1" dirty="0">
                <a:latin typeface="Arial Narrow" panose="020B0606020202030204" pitchFamily="34" charset="0"/>
              </a:rPr>
              <a:t>Data Preparation</a:t>
            </a:r>
            <a:endParaRPr lang="en-US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US" b="1" dirty="0">
                <a:latin typeface="Arial Narrow" panose="020B0606020202030204" pitchFamily="34" charset="0"/>
              </a:rPr>
              <a:t>Feature Extraction</a:t>
            </a:r>
            <a:endParaRPr lang="en-US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US" b="1" dirty="0">
                <a:latin typeface="Arial Narrow" panose="020B0606020202030204" pitchFamily="34" charset="0"/>
              </a:rPr>
              <a:t>Model Training</a:t>
            </a:r>
            <a:endParaRPr lang="en-US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US" b="1" dirty="0">
                <a:latin typeface="Arial Narrow" panose="020B0606020202030204" pitchFamily="34" charset="0"/>
              </a:rPr>
              <a:t>Disorder Prediction</a:t>
            </a:r>
            <a:endParaRPr lang="en-US" dirty="0">
              <a:latin typeface="Arial Narrow" panose="020B0606020202030204" pitchFamily="34" charset="0"/>
            </a:endParaRPr>
          </a:p>
          <a:p>
            <a:pPr marL="628650" indent="-514350" algn="just">
              <a:buFont typeface="+mj-lt"/>
              <a:buAutoNum type="arabicPeriod"/>
            </a:pPr>
            <a:r>
              <a:rPr lang="en-US" b="1" dirty="0">
                <a:latin typeface="Arial Narrow" panose="020B0606020202030204" pitchFamily="34" charset="0"/>
              </a:rPr>
              <a:t>Report Generation</a:t>
            </a:r>
            <a:endParaRPr lang="en-US" dirty="0">
              <a:latin typeface="Arial Narrow" panose="020B0606020202030204" pitchFamily="34" charset="0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32512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583692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IN" dirty="0">
                <a:latin typeface="Arial Narrow" panose="020B0606020202030204" pitchFamily="34" charset="0"/>
              </a:rPr>
              <a:t>Collect ultrasound images (PNG/JPG).</a:t>
            </a:r>
          </a:p>
          <a:p>
            <a:pPr algn="just"/>
            <a:r>
              <a:rPr lang="en-IN" dirty="0">
                <a:latin typeface="Arial Narrow" panose="020B0606020202030204" pitchFamily="34" charset="0"/>
              </a:rPr>
              <a:t>Organize images based on </a:t>
            </a:r>
            <a:r>
              <a:rPr lang="en-IN" dirty="0" err="1">
                <a:latin typeface="Arial Narrow" panose="020B0606020202030204" pitchFamily="34" charset="0"/>
              </a:rPr>
              <a:t>labeled</a:t>
            </a:r>
            <a:r>
              <a:rPr lang="en-IN" dirty="0">
                <a:latin typeface="Arial Narrow" panose="020B0606020202030204" pitchFamily="34" charset="0"/>
              </a:rPr>
              <a:t> disorder categories.</a:t>
            </a:r>
          </a:p>
          <a:p>
            <a:pPr algn="just"/>
            <a:r>
              <a:rPr lang="en-IN" dirty="0">
                <a:latin typeface="Arial Narrow" panose="020B0606020202030204" pitchFamily="34" charset="0"/>
              </a:rPr>
              <a:t>Resize and normalize images for model compatibility.</a:t>
            </a:r>
          </a:p>
          <a:p>
            <a:pPr algn="just"/>
            <a:r>
              <a:rPr lang="en-IN" dirty="0">
                <a:latin typeface="Arial Narrow" panose="020B0606020202030204" pitchFamily="34" charset="0"/>
              </a:rPr>
              <a:t>Split data into training, validation, and testing sets.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xmlns="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24C5B15A-12B9-8B6C-380A-5AD182831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156" y="1585894"/>
            <a:ext cx="5116441" cy="36922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756920" y="148018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Convert images to grayscale or keep 3-channel format.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Normalize pixel values to 0–1.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Apply </a:t>
            </a:r>
            <a:r>
              <a:rPr lang="en-US" dirty="0" smtClean="0">
                <a:latin typeface="Arial Narrow" panose="020B0606020202030204" pitchFamily="34" charset="0"/>
              </a:rPr>
              <a:t>augmentation like </a:t>
            </a:r>
            <a:r>
              <a:rPr lang="en-US" dirty="0" err="1" smtClean="0">
                <a:latin typeface="Arial Narrow" panose="020B0606020202030204" pitchFamily="34" charset="0"/>
              </a:rPr>
              <a:t>Rotation,zoom,shift,flip</a:t>
            </a:r>
            <a:endParaRPr lang="en-US" dirty="0">
              <a:latin typeface="Arial Narrow" panose="020B0606020202030204" pitchFamily="34" charset="0"/>
            </a:endParaRP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brightness adjustment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Increases dataset size and improves learning stability.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48768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Build a CNN model (e.g., VGG16 / custom CNN).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Convolution layers extract edges, shapes, and intensity patterns.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Pooling layers reduce dimensionality and focus on key features.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Fully connected layers learn deeper patterns related to genetic markers.</a:t>
            </a: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57912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IN" dirty="0">
                <a:latin typeface="Arial Narrow" panose="020B0606020202030204" pitchFamily="34" charset="0"/>
              </a:rPr>
              <a:t>Final dense layers classify images into disorder categories.</a:t>
            </a:r>
          </a:p>
          <a:p>
            <a:pPr algn="just"/>
            <a:r>
              <a:rPr lang="en-IN" dirty="0" err="1">
                <a:latin typeface="Arial Narrow" panose="020B0606020202030204" pitchFamily="34" charset="0"/>
              </a:rPr>
              <a:t>Softmax</a:t>
            </a:r>
            <a:r>
              <a:rPr lang="en-IN" dirty="0">
                <a:latin typeface="Arial Narrow" panose="020B0606020202030204" pitchFamily="34" charset="0"/>
              </a:rPr>
              <a:t> activation used for multiclass output.</a:t>
            </a:r>
          </a:p>
          <a:p>
            <a:pPr algn="just"/>
            <a:r>
              <a:rPr lang="en-IN" dirty="0">
                <a:latin typeface="Arial Narrow" panose="020B0606020202030204" pitchFamily="34" charset="0"/>
              </a:rPr>
              <a:t>Track accuracy and loss during training.</a:t>
            </a:r>
          </a:p>
          <a:p>
            <a:pPr algn="just"/>
            <a:r>
              <a:rPr lang="en-IN" dirty="0" err="1">
                <a:latin typeface="Arial Narrow" panose="020B0606020202030204" pitchFamily="34" charset="0"/>
              </a:rPr>
              <a:t>Hyperparameters</a:t>
            </a:r>
            <a:r>
              <a:rPr lang="en-IN" dirty="0">
                <a:latin typeface="Arial Narrow" panose="020B0606020202030204" pitchFamily="34" charset="0"/>
              </a:rPr>
              <a:t>: learning rate, batch size, epochs, dropout.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61976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756920" y="145986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Accuracy and loss curves are plotted for visual analysis of model training.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Predicted results are organized in tabular format for each patient.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Arial Narrow" panose="020B0606020202030204" pitchFamily="34" charset="0"/>
                <a:cs typeface="Times New Roman" panose="02020603050405020304" pitchFamily="18" charset="0"/>
              </a:rPr>
              <a:t>Summary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includes input features and corresponding predicted disorder.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 Future upgrades may include a GUI dashboard for hospital integration.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spcBef>
                <a:spcPts val="0"/>
              </a:spcBef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37592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MODULE-5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20320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17880" y="14700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This project demonstrates a non-invasive and image-based approach for detecting fetal genetic disorders using deep learning</a:t>
            </a:r>
            <a:r>
              <a:rPr lang="en-US" dirty="0" smtClean="0">
                <a:latin typeface="Arial Narrow" panose="020B0606020202030204" pitchFamily="34" charset="0"/>
              </a:rPr>
              <a:t>.</a:t>
            </a:r>
          </a:p>
          <a:p>
            <a:pPr algn="just"/>
            <a:r>
              <a:rPr lang="en-US" dirty="0" smtClean="0">
                <a:latin typeface="Arial Narrow" panose="020B0606020202030204" pitchFamily="34" charset="0"/>
              </a:rPr>
              <a:t>By </a:t>
            </a:r>
            <a:r>
              <a:rPr lang="en-US" dirty="0">
                <a:latin typeface="Arial Narrow" panose="020B0606020202030204" pitchFamily="34" charset="0"/>
              </a:rPr>
              <a:t>using only ultrasound images, the system reduces dependency on additional patient data and invasive prenatal procedures</a:t>
            </a:r>
            <a:r>
              <a:rPr lang="en-US" dirty="0" smtClean="0">
                <a:latin typeface="Arial Narrow" panose="020B0606020202030204" pitchFamily="34" charset="0"/>
              </a:rPr>
              <a:t>.</a:t>
            </a:r>
          </a:p>
          <a:p>
            <a:pPr algn="just"/>
            <a:r>
              <a:rPr lang="en-US" dirty="0" smtClean="0">
                <a:latin typeface="Arial Narrow" panose="020B0606020202030204" pitchFamily="34" charset="0"/>
              </a:rPr>
              <a:t>The </a:t>
            </a:r>
            <a:r>
              <a:rPr lang="en-US" dirty="0">
                <a:latin typeface="Arial Narrow" panose="020B0606020202030204" pitchFamily="34" charset="0"/>
              </a:rPr>
              <a:t>CNN-based approach effectively learns visual markers associated with syndromes and supports doctors with more </a:t>
            </a:r>
            <a:r>
              <a:rPr lang="en-US" dirty="0" err="1" smtClean="0">
                <a:latin typeface="Arial Narrow" panose="020B0606020202030204" pitchFamily="34" charset="0"/>
              </a:rPr>
              <a:t>accuratedecision</a:t>
            </a:r>
            <a:r>
              <a:rPr lang="en-US" dirty="0" smtClean="0">
                <a:latin typeface="Arial Narrow" panose="020B0606020202030204" pitchFamily="34" charset="0"/>
              </a:rPr>
              <a:t>-making.</a:t>
            </a:r>
          </a:p>
          <a:p>
            <a:pPr algn="just"/>
            <a:r>
              <a:rPr lang="en-US" dirty="0" smtClean="0">
                <a:latin typeface="Arial Narrow" panose="020B0606020202030204" pitchFamily="34" charset="0"/>
              </a:rPr>
              <a:t>The </a:t>
            </a:r>
            <a:r>
              <a:rPr lang="en-US" dirty="0">
                <a:latin typeface="Arial Narrow" panose="020B0606020202030204" pitchFamily="34" charset="0"/>
              </a:rPr>
              <a:t>results prove the potential of ultrasound-only AI models in prenatal diagnosis.</a:t>
            </a:r>
            <a:endParaRPr lang="en-US" b="1" dirty="0" smtClean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16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xmlns="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xmlns="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100" y="18288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5" name="Google Shape;195;p16">
            <a:extLst>
              <a:ext uri="{FF2B5EF4-FFF2-40B4-BE49-F238E27FC236}">
                <a16:creationId xmlns:a16="http://schemas.microsoft.com/office/drawing/2014/main" xmlns="" id="{648B83C1-3DE7-3E3F-40F8-76D0B6241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/>
            <a:r>
              <a:rPr lang="en-US" dirty="0">
                <a:latin typeface="Arial Narrow" panose="020B0606020202030204" pitchFamily="34" charset="0"/>
              </a:rPr>
              <a:t>Increase dataset size with diverse ultrasound images.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Integrate advanced CNN models like </a:t>
            </a:r>
            <a:r>
              <a:rPr lang="en-US" dirty="0" err="1">
                <a:latin typeface="Arial Narrow" panose="020B0606020202030204" pitchFamily="34" charset="0"/>
              </a:rPr>
              <a:t>EfficientNet</a:t>
            </a:r>
            <a:r>
              <a:rPr lang="en-US" dirty="0">
                <a:latin typeface="Arial Narrow" panose="020B0606020202030204" pitchFamily="34" charset="0"/>
              </a:rPr>
              <a:t> or Vision Transformers.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Develop real-time ultrasound scan detection in clinics.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Build a mobile or web interface for easy upload and prediction.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Add </a:t>
            </a:r>
            <a:r>
              <a:rPr lang="en-US" dirty="0" err="1">
                <a:latin typeface="Arial Narrow" panose="020B0606020202030204" pitchFamily="34" charset="0"/>
              </a:rPr>
              <a:t>heatmap</a:t>
            </a:r>
            <a:r>
              <a:rPr lang="en-US" dirty="0">
                <a:latin typeface="Arial Narrow" panose="020B0606020202030204" pitchFamily="34" charset="0"/>
              </a:rPr>
              <a:t> visualization to show which image regions influenced the prediction.</a:t>
            </a: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xmlns="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82165"/>
            <a:ext cx="10515600" cy="2042795"/>
          </a:xfrm>
        </p:spPr>
        <p:txBody>
          <a:bodyPr>
            <a:normAutofit/>
          </a:bodyPr>
          <a:lstStyle/>
          <a:p>
            <a:pPr algn="ctr"/>
            <a:r>
              <a:rPr lang="en-US" sz="11500" dirty="0" smtClean="0"/>
              <a:t>THANKYOU</a:t>
            </a:r>
            <a:endParaRPr lang="en-IN" sz="115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160" y="328866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66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792</Words>
  <Application>Microsoft Office PowerPoint</Application>
  <PresentationFormat>Custom</PresentationFormat>
  <Paragraphs>127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Times New Roman</vt:lpstr>
      <vt:lpstr>Arial Narrow</vt:lpstr>
      <vt:lpstr>Calibri</vt:lpstr>
      <vt:lpstr>Arial MT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PROBLEM IDENTIFICATION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CONCLUSION</vt:lpstr>
      <vt:lpstr>FUTURE ENHANCEMENTS </vt:lpstr>
      <vt:lpstr>THANKYOU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Saravanan M</dc:creator>
  <cp:lastModifiedBy>B. SUNDAR</cp:lastModifiedBy>
  <cp:revision>23</cp:revision>
  <dcterms:modified xsi:type="dcterms:W3CDTF">2025-11-28T05:13:08Z</dcterms:modified>
</cp:coreProperties>
</file>